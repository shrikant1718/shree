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8T18:30:24.87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8T18:28:50.755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8T18:28:50.930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8T18:28:51.106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8T18:28:51.264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8T18:28:51.473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8T18:30:37.95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8T18:30:57.89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8T18:30:58.76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8T18:30:59.92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8T18:31:00.731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29C14D-3820-4764-B8A5-1C77E53370B2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2520A7-68E2-4A0A-9D51-63C20E6114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7051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050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3736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3" Type="http://schemas.openxmlformats.org/officeDocument/2006/relationships/customXml" Target="../ink/ink2.xml"/><Relationship Id="rId7" Type="http://schemas.openxmlformats.org/officeDocument/2006/relationships/customXml" Target="../ink/ink5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4.xml"/><Relationship Id="rId5" Type="http://schemas.openxmlformats.org/officeDocument/2006/relationships/customXml" Target="../ink/ink3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customXml" Target="../ink/ink11.xml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0.xml"/><Relationship Id="rId5" Type="http://schemas.openxmlformats.org/officeDocument/2006/relationships/customXml" Target="../ink/ink9.xml"/><Relationship Id="rId4" Type="http://schemas.openxmlformats.org/officeDocument/2006/relationships/customXml" Target="../ink/ink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69EAD4-056B-F17E-056F-E97DD2D608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4552" y="871759"/>
            <a:ext cx="5825448" cy="3031374"/>
          </a:xfrm>
        </p:spPr>
        <p:txBody>
          <a:bodyPr>
            <a:noAutofit/>
          </a:bodyPr>
          <a:lstStyle/>
          <a:p>
            <a:r>
              <a:rPr lang="en-US" sz="4000" dirty="0"/>
              <a:t>Listening strategies </a:t>
            </a:r>
            <a:br>
              <a:rPr lang="en-US" sz="4000" dirty="0"/>
            </a:br>
            <a:r>
              <a:rPr lang="en-US" sz="4000" dirty="0"/>
              <a:t>for effective communication</a:t>
            </a: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1E63E1-7C3A-1D6B-6C29-3904308B44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9964" y="4351869"/>
            <a:ext cx="5322013" cy="1439332"/>
          </a:xfrm>
        </p:spPr>
        <p:txBody>
          <a:bodyPr>
            <a:normAutofit/>
          </a:bodyPr>
          <a:lstStyle/>
          <a:p>
            <a:r>
              <a:rPr lang="en-US" dirty="0"/>
              <a:t>Presented by:</a:t>
            </a:r>
          </a:p>
          <a:p>
            <a:r>
              <a:rPr lang="en-US" dirty="0"/>
              <a:t>Sneha Dhananjay Ingawale</a:t>
            </a:r>
          </a:p>
          <a:p>
            <a:r>
              <a:rPr lang="en-IN" dirty="0"/>
              <a:t>Harshada Dilip Gurav</a:t>
            </a:r>
          </a:p>
        </p:txBody>
      </p:sp>
      <p:pic>
        <p:nvPicPr>
          <p:cNvPr id="4" name="Picture 3" descr="Pink powder smoke">
            <a:extLst>
              <a:ext uri="{FF2B5EF4-FFF2-40B4-BE49-F238E27FC236}">
                <a16:creationId xmlns:a16="http://schemas.microsoft.com/office/drawing/2014/main" id="{95FA095D-1145-5DFB-5218-ECF5D1FCF2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954" r="39224"/>
          <a:stretch>
            <a:fillRect/>
          </a:stretch>
        </p:blipFill>
        <p:spPr>
          <a:xfrm>
            <a:off x="1" y="10"/>
            <a:ext cx="4876799" cy="685798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4739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829C1-EEA9-AB0A-AAFA-EF3178B471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5221" y="2438810"/>
            <a:ext cx="9989574" cy="1980380"/>
          </a:xfrm>
        </p:spPr>
        <p:txBody>
          <a:bodyPr/>
          <a:lstStyle/>
          <a:p>
            <a:r>
              <a:rPr lang="en-US" dirty="0"/>
              <a:t>Introduction to listening strategies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3118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9EAE30-398E-C3D6-AEAF-7891C54ABC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4552" y="871757"/>
            <a:ext cx="5825448" cy="1114911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3600" dirty="0"/>
              <a:t>What is Listening Strategy and Its Importance</a:t>
            </a:r>
            <a:br>
              <a:rPr lang="en-US" dirty="0"/>
            </a:br>
            <a:br>
              <a:rPr lang="en-US" dirty="0"/>
            </a:br>
            <a:endParaRPr lang="en-IN" dirty="0"/>
          </a:p>
        </p:txBody>
      </p:sp>
      <p:pic>
        <p:nvPicPr>
          <p:cNvPr id="5" name="Content Placeholder 4" descr="Close up of unrecognizable man's hand during a job interview in the office.">
            <a:extLst>
              <a:ext uri="{FF2B5EF4-FFF2-40B4-BE49-F238E27FC236}">
                <a16:creationId xmlns:a16="http://schemas.microsoft.com/office/drawing/2014/main" id="{7360FD85-4086-5050-3CB3-E6A27802C6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994" r="31539" b="-1"/>
          <a:stretch>
            <a:fillRect/>
          </a:stretch>
        </p:blipFill>
        <p:spPr>
          <a:xfrm>
            <a:off x="1" y="10"/>
            <a:ext cx="4876799" cy="6857989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E3326E8-BE5B-A230-6CFE-366B61A9CBF8}"/>
              </a:ext>
            </a:extLst>
          </p:cNvPr>
          <p:cNvSpPr txBox="1"/>
          <p:nvPr/>
        </p:nvSpPr>
        <p:spPr>
          <a:xfrm>
            <a:off x="5604552" y="2213726"/>
            <a:ext cx="559615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Definition of Listening Strategies</a:t>
            </a:r>
            <a:r>
              <a:rPr lang="en-US" dirty="0"/>
              <a:t>​</a:t>
            </a:r>
          </a:p>
          <a:p>
            <a:pPr fontAlgn="base"/>
            <a:r>
              <a:rPr lang="en-US" dirty="0"/>
              <a:t>Listening strategies are deliberate techniques to enhance understanding and responding to spoken communication effectively.​</a:t>
            </a:r>
          </a:p>
          <a:p>
            <a:pPr fontAlgn="base"/>
            <a:endParaRPr lang="en-US" dirty="0"/>
          </a:p>
          <a:p>
            <a:pPr fontAlgn="base"/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Benefits of Effective Listening</a:t>
            </a:r>
            <a:r>
              <a:rPr lang="en-US" dirty="0"/>
              <a:t>​</a:t>
            </a:r>
          </a:p>
          <a:p>
            <a:pPr fontAlgn="base"/>
            <a:r>
              <a:rPr lang="en-US" dirty="0"/>
              <a:t>Effective listening builds trust, reduces misunderstandings, and enhances collaboration in personal and professional settings.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1069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B9C09-98D8-3DA3-AFCC-3A1DFE6F94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2498487"/>
            <a:ext cx="8676979" cy="2192045"/>
          </a:xfrm>
        </p:spPr>
        <p:txBody>
          <a:bodyPr>
            <a:noAutofit/>
          </a:bodyPr>
          <a:lstStyle/>
          <a:p>
            <a:r>
              <a:rPr lang="en-US" dirty="0"/>
              <a:t>Tips for Better Communication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5573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8266A03C-7D1C-483D-3DDC-0AB40ADCDA95}"/>
              </a:ext>
            </a:extLst>
          </p:cNvPr>
          <p:cNvSpPr txBox="1"/>
          <p:nvPr/>
        </p:nvSpPr>
        <p:spPr>
          <a:xfrm>
            <a:off x="753534" y="863600"/>
            <a:ext cx="100414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cap="all" spc="30" dirty="0">
                <a:latin typeface="+mj-lt"/>
                <a:ea typeface="+mj-ea"/>
                <a:cs typeface="+mj-cs"/>
              </a:rPr>
              <a:t>Be Fully Attentive, Practice Active Listening, Avoid Interruption</a:t>
            </a:r>
            <a:endParaRPr lang="en-IN" sz="3600" cap="all" spc="30" dirty="0"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4286F29-96BD-E1AE-E0B6-F8E8EC3253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0003953"/>
              </p:ext>
            </p:extLst>
          </p:nvPr>
        </p:nvGraphicFramePr>
        <p:xfrm>
          <a:off x="753534" y="2683087"/>
          <a:ext cx="9084734" cy="322664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42367">
                  <a:extLst>
                    <a:ext uri="{9D8B030D-6E8A-4147-A177-3AD203B41FA5}">
                      <a16:colId xmlns:a16="http://schemas.microsoft.com/office/drawing/2014/main" val="3341746621"/>
                    </a:ext>
                  </a:extLst>
                </a:gridCol>
                <a:gridCol w="4542367">
                  <a:extLst>
                    <a:ext uri="{9D8B030D-6E8A-4147-A177-3AD203B41FA5}">
                      <a16:colId xmlns:a16="http://schemas.microsoft.com/office/drawing/2014/main" val="3491902008"/>
                    </a:ext>
                  </a:extLst>
                </a:gridCol>
              </a:tblGrid>
              <a:tr h="698923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TIP 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0244147"/>
                  </a:ext>
                </a:extLst>
              </a:tr>
              <a:tr h="698923">
                <a:tc>
                  <a:txBody>
                    <a:bodyPr/>
                    <a:lstStyle/>
                    <a:p>
                      <a:r>
                        <a:rPr lang="en-US" dirty="0"/>
                        <a:t>Be fully attentive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cap="none" spc="0" dirty="0">
                          <a:solidFill>
                            <a:schemeClr val="tx1"/>
                          </a:solidFill>
                        </a:rPr>
                        <a:t>Focus entirely on the speaker without distractions.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2446583"/>
                  </a:ext>
                </a:extLst>
              </a:tr>
              <a:tr h="698923">
                <a:tc>
                  <a:txBody>
                    <a:bodyPr/>
                    <a:lstStyle/>
                    <a:p>
                      <a:r>
                        <a:rPr lang="en-US" dirty="0"/>
                        <a:t>Practice active listening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cap="none" spc="0" dirty="0">
                          <a:solidFill>
                            <a:schemeClr val="tx1"/>
                          </a:solidFill>
                        </a:rPr>
                        <a:t>Engage through eye contact, nodding, and paraphrasing.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2988458"/>
                  </a:ext>
                </a:extLst>
              </a:tr>
              <a:tr h="698923">
                <a:tc>
                  <a:txBody>
                    <a:bodyPr/>
                    <a:lstStyle/>
                    <a:p>
                      <a:r>
                        <a:rPr lang="en-US" dirty="0"/>
                        <a:t>Avoid Interruption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cap="none" spc="0" dirty="0">
                          <a:solidFill>
                            <a:schemeClr val="tx1"/>
                          </a:solidFill>
                        </a:rPr>
                        <a:t>Let the speaker finish before responding.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52786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2507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B19F6-94AB-A03B-B08F-BDFD203827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795047"/>
          </a:xfrm>
        </p:spPr>
        <p:txBody>
          <a:bodyPr>
            <a:normAutofit/>
          </a:bodyPr>
          <a:lstStyle/>
          <a:p>
            <a:r>
              <a:rPr lang="en-US" sz="4000" dirty="0"/>
              <a:t>More Tips for Better Communication</a:t>
            </a:r>
            <a:endParaRPr lang="en-IN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1A51A1-8CA4-9606-CA8C-345B4C940A64}"/>
              </a:ext>
            </a:extLst>
          </p:cNvPr>
          <p:cNvSpPr txBox="1"/>
          <p:nvPr/>
        </p:nvSpPr>
        <p:spPr>
          <a:xfrm>
            <a:off x="704088" y="1998133"/>
            <a:ext cx="9906262" cy="3503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25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Demonstrate Empathy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dirty="0"/>
              <a:t>	Empathy involves understanding and sharing the speaker’s emotions to create a supportive communication environment.</a:t>
            </a:r>
          </a:p>
          <a:p>
            <a:pPr marL="285750" indent="-285750">
              <a:spcBef>
                <a:spcPts val="25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Ask Clarifying Questions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dirty="0"/>
              <a:t>	Clarifying questions like 'Could you elaborate?' ensure accurate understanding and show genuine interest.</a:t>
            </a:r>
          </a:p>
          <a:p>
            <a:pPr marL="285750" indent="-285750">
              <a:spcBef>
                <a:spcPts val="25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Take Effective Notes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dirty="0"/>
              <a:t>	Note-taking during conversations helps retain key points and provides a useful reference for future discussions.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1867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BF29072-0636-99BC-C5A3-D62AF86B6A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17627"/>
            <a:ext cx="6390469" cy="68542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 dirty="0"/>
              <a:t>Effective Communication Tips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F51A9E-99F9-68AE-001F-6903147CC614}"/>
              </a:ext>
            </a:extLst>
          </p:cNvPr>
          <p:cNvSpPr txBox="1"/>
          <p:nvPr/>
        </p:nvSpPr>
        <p:spPr>
          <a:xfrm>
            <a:off x="704088" y="1646331"/>
            <a:ext cx="5713645" cy="45085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57150" indent="-285750"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US" b="1" dirty="0"/>
              <a:t>Managing Emotions in Conversation</a:t>
            </a:r>
          </a:p>
          <a:p>
            <a:pPr marL="0" lvl="1" indent="-228600">
              <a:buFont typeface="Arial" panose="020B0604020202020204" pitchFamily="34" charset="0"/>
              <a:buChar char="•"/>
            </a:pPr>
            <a:r>
              <a:rPr lang="en-US" dirty="0"/>
              <a:t>Controlling emotional reactions preserves clarity and respect,</a:t>
            </a:r>
          </a:p>
          <a:p>
            <a:pPr marL="0" lvl="1" indent="-228600">
              <a:buFont typeface="Arial" panose="020B0604020202020204" pitchFamily="34" charset="0"/>
              <a:buChar char="•"/>
            </a:pPr>
            <a:r>
              <a:rPr lang="en-US" dirty="0"/>
              <a:t>reducing misunderstandings during communication.</a:t>
            </a:r>
          </a:p>
          <a:p>
            <a:pPr marL="285750" indent="-285750"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US" b="1" dirty="0"/>
              <a:t>Practicing Patience</a:t>
            </a:r>
          </a:p>
          <a:p>
            <a:pPr marL="0" lvl="1" indent="-228600">
              <a:buFont typeface="Arial" panose="020B0604020202020204" pitchFamily="34" charset="0"/>
              <a:buChar char="•"/>
            </a:pPr>
            <a:r>
              <a:rPr lang="en-US" dirty="0"/>
              <a:t>Patience allows careful processing of information, </a:t>
            </a:r>
          </a:p>
          <a:p>
            <a:pPr marL="0" lvl="1" indent="-228600">
              <a:buFont typeface="Arial" panose="020B0604020202020204" pitchFamily="34" charset="0"/>
              <a:buChar char="•"/>
            </a:pPr>
            <a:r>
              <a:rPr lang="en-US" dirty="0"/>
              <a:t>helping speakers express themselves fully and listeners to understand.</a:t>
            </a:r>
          </a:p>
          <a:p>
            <a:pPr marL="57150" indent="-285750"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US" b="1" dirty="0"/>
              <a:t>Providing Effective Feedback</a:t>
            </a:r>
          </a:p>
          <a:p>
            <a:pPr marL="0" lvl="1" indent="-228600">
              <a:buFont typeface="Arial" panose="020B0604020202020204" pitchFamily="34" charset="0"/>
              <a:buChar char="•"/>
            </a:pPr>
            <a:r>
              <a:rPr lang="en-US" dirty="0"/>
              <a:t>Constructive verbal and non-verbal feedback aligns understanding </a:t>
            </a:r>
          </a:p>
          <a:p>
            <a:pPr marL="0" lvl="1" indent="-228600">
              <a:buFont typeface="Arial" panose="020B0604020202020204" pitchFamily="34" charset="0"/>
              <a:buChar char="•"/>
            </a:pPr>
            <a:r>
              <a:rPr lang="en-US" dirty="0"/>
              <a:t>and clarifies ambiguities in dialogue.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pic>
        <p:nvPicPr>
          <p:cNvPr id="6" name="Content Placeholder 4" descr="Latin young people with face masks sitting on stools in a row and using mobile phones.">
            <a:extLst>
              <a:ext uri="{FF2B5EF4-FFF2-40B4-BE49-F238E27FC236}">
                <a16:creationId xmlns:a16="http://schemas.microsoft.com/office/drawing/2014/main" id="{2CC8479C-86CF-0F5E-2EBF-4335A35BB8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476" r="17684" b="-1"/>
          <a:stretch>
            <a:fillRect/>
          </a:stretch>
        </p:blipFill>
        <p:spPr>
          <a:xfrm>
            <a:off x="7094557" y="1646330"/>
            <a:ext cx="4881593" cy="407333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14F7E08-4C9F-61F0-6C04-081BB3287739}"/>
                  </a:ext>
                </a:extLst>
              </p14:cNvPr>
              <p14:cNvContentPartPr/>
              <p14:nvPr/>
            </p14:nvContentPartPr>
            <p14:xfrm>
              <a:off x="3564587" y="668960"/>
              <a:ext cx="360" cy="3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A14F7E08-4C9F-61F0-6C04-081BB328773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74587" y="488960"/>
                <a:ext cx="180000" cy="360000"/>
              </a:xfrm>
              <a:prstGeom prst="rect">
                <a:avLst/>
              </a:prstGeom>
            </p:spPr>
          </p:pic>
        </mc:Fallback>
      </mc:AlternateContent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DE13BD4-1774-1D7A-C030-EB2B0C165981}"/>
              </a:ext>
            </a:extLst>
          </p:cNvPr>
          <p:cNvCxnSpPr/>
          <p:nvPr/>
        </p:nvCxnSpPr>
        <p:spPr>
          <a:xfrm flipH="1">
            <a:off x="800100" y="722376"/>
            <a:ext cx="1642872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9239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8D0833-D728-F62E-F5DA-B4507A437B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914400"/>
            <a:ext cx="10780776" cy="84666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/>
              <a:t>Develop Cultural Awareness in Listening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E495065-8864-87FB-2BCC-254769963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Content Placeholder 4" descr="People sitting in group">
            <a:extLst>
              <a:ext uri="{FF2B5EF4-FFF2-40B4-BE49-F238E27FC236}">
                <a16:creationId xmlns:a16="http://schemas.microsoft.com/office/drawing/2014/main" id="{32A09F10-D1B1-9077-ABF0-2007D94CC3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189" b="1"/>
          <a:stretch>
            <a:fillRect/>
          </a:stretch>
        </p:blipFill>
        <p:spPr>
          <a:xfrm>
            <a:off x="800099" y="2249423"/>
            <a:ext cx="4972627" cy="39136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5871C1-6948-4553-986B-D5B3BA5AF13F}"/>
              </a:ext>
            </a:extLst>
          </p:cNvPr>
          <p:cNvSpPr txBox="1"/>
          <p:nvPr/>
        </p:nvSpPr>
        <p:spPr>
          <a:xfrm>
            <a:off x="6096000" y="2249424"/>
            <a:ext cx="5394960" cy="3913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85750">
              <a:lnSpc>
                <a:spcPct val="110000"/>
              </a:lnSpc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US" sz="1700" b="1" dirty="0"/>
              <a:t>Understanding Cultural Differences</a:t>
            </a:r>
          </a:p>
          <a:p>
            <a:pPr marL="0" lvl="1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Recognize unique communication styles and </a:t>
            </a:r>
          </a:p>
          <a:p>
            <a:pPr marL="0" lvl="1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norms across cultures to improve listening effectiveness.</a:t>
            </a:r>
          </a:p>
          <a:p>
            <a:pPr marL="342900" indent="-285750">
              <a:lnSpc>
                <a:spcPct val="110000"/>
              </a:lnSpc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US" sz="1700" b="1" dirty="0"/>
              <a:t>Adapting Listening Strategies</a:t>
            </a:r>
          </a:p>
          <a:p>
            <a:pPr marL="0" lvl="1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Adjust listening approaches by learning cultural </a:t>
            </a:r>
          </a:p>
          <a:p>
            <a:pPr marL="0" lvl="1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backgrounds and avoiding assumptions during conversations.</a:t>
            </a:r>
          </a:p>
          <a:p>
            <a:pPr marL="342900" indent="-285750">
              <a:lnSpc>
                <a:spcPct val="110000"/>
              </a:lnSpc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US" sz="1700" b="1" dirty="0"/>
              <a:t>Non-Verbal Sensitivity</a:t>
            </a:r>
          </a:p>
          <a:p>
            <a:pPr marL="0" lvl="1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Be sensitive to gestures, tone, and non-verbal cues that </a:t>
            </a:r>
          </a:p>
          <a:p>
            <a:pPr marL="0" lvl="1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vary between cultures to prevent misunderstandings.</a:t>
            </a:r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39AEFAF5-60E5-C038-2913-34D5081B5BFB}"/>
                  </a:ext>
                </a:extLst>
              </p14:cNvPr>
              <p14:cNvContentPartPr/>
              <p14:nvPr/>
            </p14:nvContentPartPr>
            <p14:xfrm>
              <a:off x="2082467" y="736640"/>
              <a:ext cx="360" cy="3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39AEFAF5-60E5-C038-2913-34D5081B5BF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28827" y="62864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BB72C6D9-8C96-6484-B8E4-319001104C82}"/>
                  </a:ext>
                </a:extLst>
              </p14:cNvPr>
              <p14:cNvContentPartPr/>
              <p14:nvPr/>
            </p14:nvContentPartPr>
            <p14:xfrm>
              <a:off x="2082467" y="736640"/>
              <a:ext cx="360" cy="3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BB72C6D9-8C96-6484-B8E4-319001104C8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28827" y="62864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19D15032-5E4A-EBAA-7CEA-B0D71791BF62}"/>
                  </a:ext>
                </a:extLst>
              </p14:cNvPr>
              <p14:cNvContentPartPr/>
              <p14:nvPr/>
            </p14:nvContentPartPr>
            <p14:xfrm>
              <a:off x="2082467" y="736640"/>
              <a:ext cx="360" cy="36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19D15032-5E4A-EBAA-7CEA-B0D71791BF6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28827" y="62864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9BEB6F64-29AF-95C3-D314-2CCACE96A6F4}"/>
                  </a:ext>
                </a:extLst>
              </p14:cNvPr>
              <p14:cNvContentPartPr/>
              <p14:nvPr/>
            </p14:nvContentPartPr>
            <p14:xfrm>
              <a:off x="2082467" y="736640"/>
              <a:ext cx="360" cy="3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9BEB6F64-29AF-95C3-D314-2CCACE96A6F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28827" y="62864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A4CB35E-ED09-4F9C-7E22-AEB2E6359B89}"/>
                  </a:ext>
                </a:extLst>
              </p14:cNvPr>
              <p14:cNvContentPartPr/>
              <p14:nvPr/>
            </p14:nvContentPartPr>
            <p14:xfrm>
              <a:off x="2082467" y="736640"/>
              <a:ext cx="360" cy="3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A4CB35E-ED09-4F9C-7E22-AEB2E6359B8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28827" y="628640"/>
                <a:ext cx="108000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33" name="矢印: 左 32">
            <a:extLst>
              <a:ext uri="{FF2B5EF4-FFF2-40B4-BE49-F238E27FC236}">
                <a16:creationId xmlns:a16="http://schemas.microsoft.com/office/drawing/2014/main" id="{48437000-AC6C-431C-B0BC-BDDECAEA983B}"/>
              </a:ext>
            </a:extLst>
          </p:cNvPr>
          <p:cNvSpPr/>
          <p:nvPr/>
        </p:nvSpPr>
        <p:spPr>
          <a:xfrm>
            <a:off x="711279" y="563122"/>
            <a:ext cx="1828800" cy="182880"/>
          </a:xfrm>
          <a:prstGeom prst="leftArrow">
            <a:avLst/>
          </a:prstGeom>
          <a:solidFill>
            <a:srgbClr val="FFFFFF">
              <a:alpha val="5000"/>
            </a:srgbClr>
          </a:solidFill>
          <a:ln w="1080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1136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C28D5-1F0E-7396-53F6-B3F9E53D6F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955913"/>
          </a:xfrm>
        </p:spPr>
        <p:txBody>
          <a:bodyPr>
            <a:normAutofit/>
          </a:bodyPr>
          <a:lstStyle/>
          <a:p>
            <a:r>
              <a:rPr lang="en-US" sz="4800" dirty="0"/>
              <a:t>Conclusion</a:t>
            </a:r>
            <a:endParaRPr lang="en-IN" sz="4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3B51A1-3DE8-14B8-2F34-6A393447F0C5}"/>
              </a:ext>
            </a:extLst>
          </p:cNvPr>
          <p:cNvSpPr txBox="1"/>
          <p:nvPr/>
        </p:nvSpPr>
        <p:spPr>
          <a:xfrm>
            <a:off x="948267" y="2274838"/>
            <a:ext cx="8991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Listening is critical skill for effective communication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Applying strategies like attentiveness, empathy, patience, and cultural awareness improves understanding.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Active listening builds trust and strengthens relationships.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Continuous practice leads to better collaboration and fewer misunderstandings.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9306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DE046-D43A-BB10-CB94-A963C33BAA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7955" y="2951276"/>
            <a:ext cx="4206578" cy="955447"/>
          </a:xfrm>
        </p:spPr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C29ACF9-7BD6-B230-8EB3-81E2E7F97411}"/>
                  </a:ext>
                </a:extLst>
              </p14:cNvPr>
              <p14:cNvContentPartPr/>
              <p14:nvPr/>
            </p14:nvContentPartPr>
            <p14:xfrm>
              <a:off x="4648187" y="1845627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C29ACF9-7BD6-B230-8EB3-81E2E7F9741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58187" y="1665987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B476175-18FA-44AF-CBDD-F66F907ED013}"/>
                  </a:ext>
                </a:extLst>
              </p14:cNvPr>
              <p14:cNvContentPartPr/>
              <p14:nvPr/>
            </p14:nvContentPartPr>
            <p14:xfrm>
              <a:off x="5553947" y="3860547"/>
              <a:ext cx="360" cy="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B476175-18FA-44AF-CBDD-F66F907ED01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64307" y="3680547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E2A9CCA-18AD-F8B2-04B0-F23B7FF6BE89}"/>
                  </a:ext>
                </a:extLst>
              </p14:cNvPr>
              <p14:cNvContentPartPr/>
              <p14:nvPr/>
            </p14:nvContentPartPr>
            <p14:xfrm>
              <a:off x="5605067" y="2328027"/>
              <a:ext cx="360" cy="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E2A9CCA-18AD-F8B2-04B0-F23B7FF6BE8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15067" y="2148387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EECF351-B817-E49D-CC41-395ED1A1A882}"/>
                  </a:ext>
                </a:extLst>
              </p14:cNvPr>
              <p14:cNvContentPartPr/>
              <p14:nvPr/>
            </p14:nvContentPartPr>
            <p14:xfrm>
              <a:off x="6231467" y="1667787"/>
              <a:ext cx="360" cy="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EECF351-B817-E49D-CC41-395ED1A1A88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41467" y="1487787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6487DA8-9632-3E9C-6096-69C6104CB54B}"/>
                  </a:ext>
                </a:extLst>
              </p14:cNvPr>
              <p14:cNvContentPartPr/>
              <p14:nvPr/>
            </p14:nvContentPartPr>
            <p14:xfrm>
              <a:off x="7374467" y="1905027"/>
              <a:ext cx="360" cy="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6487DA8-9632-3E9C-6096-69C6104CB54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84827" y="1725027"/>
                <a:ext cx="180000" cy="36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8496856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337</Words>
  <Application>Microsoft Office PowerPoint</Application>
  <PresentationFormat>Widescreen</PresentationFormat>
  <Paragraphs>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Calisto MT</vt:lpstr>
      <vt:lpstr>Univers Condensed</vt:lpstr>
      <vt:lpstr>Wingdings</vt:lpstr>
      <vt:lpstr>ChronicleVTI</vt:lpstr>
      <vt:lpstr>Listening strategies  for effective communication</vt:lpstr>
      <vt:lpstr>Introduction to listening strategies</vt:lpstr>
      <vt:lpstr>What is Listening Strategy and Its Importance  </vt:lpstr>
      <vt:lpstr>Tips for Better Communication</vt:lpstr>
      <vt:lpstr>PowerPoint Presentation</vt:lpstr>
      <vt:lpstr>More Tips for Better Communication</vt:lpstr>
      <vt:lpstr>Effective Communication Tips</vt:lpstr>
      <vt:lpstr>Develop Cultural Awareness in Listening</vt:lpstr>
      <vt:lpstr>Conclusion</vt:lpstr>
      <vt:lpstr>Thank You</vt:lpstr>
    </vt:vector>
  </TitlesOfParts>
  <Company>Capgemini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Ingawale, Shrikant</dc:creator>
  <cp:lastModifiedBy>Ingawale, Shrikant</cp:lastModifiedBy>
  <cp:revision>3</cp:revision>
  <dcterms:created xsi:type="dcterms:W3CDTF">2025-12-18T17:15:58Z</dcterms:created>
  <dcterms:modified xsi:type="dcterms:W3CDTF">2025-12-18T18:44:19Z</dcterms:modified>
</cp:coreProperties>
</file>